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customXml" Target="../customXml/item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58200" y="777240"/>
            <a:ext cx="2331720" cy="2331720"/>
          </a:xfrm>
          <a:prstGeom prst="ellipse">
            <a:avLst/>
          </a:prstGeom>
          <a:solidFill>
            <a:srgbClr val="1F7E58"/>
          </a:solidFill>
          <a:ln>
            <a:solidFill>
              <a:srgbClr val="1F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88552" y="1307592"/>
            <a:ext cx="1271016" cy="1271016"/>
          </a:xfrm>
          <a:prstGeom prst="ellipse">
            <a:avLst/>
          </a:prstGeom>
          <a:solidFill>
            <a:srgbClr val="182623"/>
          </a:solidFill>
          <a:ln>
            <a:solidFill>
              <a:srgbClr val="182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8120" y="68580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0F2E9"/>
                </a:solidFill>
                <a:latin typeface="Aptos"/>
              </a:rPr>
              <a:t>COLLECT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78440" y="17830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0F2E9"/>
                </a:solidFill>
                <a:latin typeface="Aptos"/>
              </a:rPr>
              <a:t>REWARD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306324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0F2E9"/>
                </a:solidFill>
                <a:latin typeface="Aptos"/>
              </a:rPr>
              <a:t>RECOVER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04120" y="3611880"/>
            <a:ext cx="1371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E0F2E9"/>
                </a:solidFill>
                <a:latin typeface="Aptos"/>
              </a:rPr>
              <a:t>RECYCLE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61120" y="960120"/>
            <a:ext cx="731520" cy="822960"/>
          </a:xfrm>
          <a:prstGeom prst="line">
            <a:avLst/>
          </a:prstGeom>
          <a:ln w="25400">
            <a:solidFill>
              <a:srgbClr val="41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9692640" y="2423160"/>
            <a:ext cx="365760" cy="822960"/>
          </a:xfrm>
          <a:prstGeom prst="line">
            <a:avLst/>
          </a:prstGeom>
          <a:ln w="25400">
            <a:solidFill>
              <a:srgbClr val="41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 flipV="1">
            <a:off x="8412480" y="2651760"/>
            <a:ext cx="731520" cy="960120"/>
          </a:xfrm>
          <a:prstGeom prst="line">
            <a:avLst/>
          </a:prstGeom>
          <a:ln w="25400">
            <a:solidFill>
              <a:srgbClr val="41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229600" y="1051560"/>
            <a:ext cx="731520" cy="1143000"/>
          </a:xfrm>
          <a:prstGeom prst="line">
            <a:avLst/>
          </a:prstGeom>
          <a:ln w="25400">
            <a:solidFill>
              <a:srgbClr val="41A1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1051560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E0F2E9"/>
                </a:solidFill>
                <a:latin typeface="Aptos"/>
              </a:rPr>
              <a:t>RECIRCUIT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609344"/>
            <a:ext cx="6217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CAMPUS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423160"/>
            <a:ext cx="64008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Building a Circular Electronics Ecosystem for Campuses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3246120"/>
            <a:ext cx="6217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5D8D1"/>
                </a:solidFill>
                <a:latin typeface="Aptos"/>
              </a:rPr>
              <a:t>A digital platform that turns campus e-waste into measurable environmental, social and economic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800600"/>
            <a:ext cx="2011680" cy="475488"/>
          </a:xfrm>
          <a:prstGeom prst="roundRect">
            <a:avLst/>
          </a:prstGeom>
          <a:solidFill>
            <a:srgbClr val="1F7E58"/>
          </a:solidFill>
          <a:ln w="12700">
            <a:solidFill>
              <a:srgbClr val="1F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928616"/>
            <a:ext cx="17830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ptos"/>
              </a:rPr>
              <a:t>STUDENT • COLLEGE • RECYCLER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6053328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BB3"/>
                </a:solidFill>
                <a:latin typeface="Aptos"/>
              </a:rPr>
              <a:t>Innovation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7E58"/>
                </a:solidFill>
                <a:latin typeface="Aptos"/>
              </a:rPr>
              <a:t>01 • THE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2623"/>
                </a:solidFill>
                <a:latin typeface="Aptos"/>
              </a:rPr>
              <a:t>The e-waste problem starts long before recycling.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76762"/>
                </a:solidFill>
                <a:latin typeface="Aptos"/>
              </a:rPr>
              <a:t>Campuses are concentrated communities of electronics users — but collection is often fragmented.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75688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7E58"/>
                </a:solidFill>
                <a:latin typeface="Aptos"/>
              </a:rPr>
              <a:t>62M tonnes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578608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76762"/>
                </a:solidFill>
                <a:latin typeface="Aptos"/>
              </a:rPr>
              <a:t>global e-waste generated in 2022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874519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075688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E58936"/>
                </a:solidFill>
                <a:latin typeface="Aptos"/>
              </a:rPr>
              <a:t>22.3%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578608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76762"/>
                </a:solidFill>
                <a:latin typeface="Aptos"/>
              </a:rPr>
              <a:t>documented collection &amp; recycling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29016" y="1874519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30184" y="2075688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356991"/>
                </a:solidFill>
                <a:latin typeface="Aptos"/>
              </a:rPr>
              <a:t>US$91B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30184" y="2578608"/>
            <a:ext cx="2880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76762"/>
                </a:solidFill>
                <a:latin typeface="Aptos"/>
              </a:rPr>
              <a:t>value of metals embedded in 2022 e-waste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611880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7E58"/>
                </a:solidFill>
                <a:latin typeface="Aptos"/>
              </a:rPr>
              <a:t>THE CAMPUS GAP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977639"/>
            <a:ext cx="24231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18795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7E58"/>
                </a:solidFill>
                <a:latin typeface="Aptos"/>
              </a:rPr>
              <a:t>UNUSED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498848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623"/>
                </a:solidFill>
                <a:latin typeface="Aptos"/>
              </a:rPr>
              <a:t>Old phones, laptops,
chargers &amp; cables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4952" y="437083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76762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10712" y="3977639"/>
            <a:ext cx="24231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75304" y="418795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7E58"/>
                </a:solidFill>
                <a:latin typeface="Aptos"/>
              </a:rPr>
              <a:t>STORED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75304" y="4498848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623"/>
                </a:solidFill>
                <a:latin typeface="Aptos"/>
              </a:rPr>
              <a:t>Forgotten in drawers,
hostels &amp; offices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1304" y="437083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76762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3977639"/>
            <a:ext cx="2423160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1656" y="418795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7E58"/>
                </a:solidFill>
                <a:latin typeface="Aptos"/>
              </a:rPr>
              <a:t>DISPOSED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1656" y="4498848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623"/>
                </a:solidFill>
                <a:latin typeface="Aptos"/>
              </a:rPr>
              <a:t>Mixed waste or
unstructured collection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7656" y="4370832"/>
            <a:ext cx="320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576762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43416" y="3977639"/>
            <a:ext cx="2423160" cy="1207008"/>
          </a:xfrm>
          <a:prstGeom prst="roundRect">
            <a:avLst/>
          </a:prstGeom>
          <a:solidFill>
            <a:srgbClr val="E0F2E9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08008" y="4187952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E4E44"/>
                </a:solidFill>
                <a:latin typeface="Aptos"/>
              </a:rPr>
              <a:t>VALUE LOST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8008" y="4498848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623"/>
                </a:solidFill>
                <a:latin typeface="Aptos"/>
              </a:rPr>
              <a:t>Reusable devices +
recoverable materials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870448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76762"/>
                </a:solidFill>
                <a:latin typeface="Aptos"/>
              </a:rPr>
              <a:t>Sources: Global E-waste Monitor 2024 (UNITAR/ITU); CPCB, E-Waste (Management) Rules, 2022.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473952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76762"/>
                </a:solidFill>
                <a:latin typeface="Aptos"/>
              </a:rPr>
              <a:t>RECIRCUIT CAMPUS  •  2/5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6473952"/>
            <a:ext cx="3703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76762"/>
                </a:solidFill>
                <a:latin typeface="Aptos"/>
              </a:rPr>
              <a:t>Collect. Reward. Recover. Recycle.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7E58"/>
                </a:solidFill>
                <a:latin typeface="Aptos"/>
              </a:rPr>
              <a:t>02 •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2623"/>
                </a:solidFill>
                <a:latin typeface="Aptos"/>
              </a:rPr>
              <a:t>ReCircuit Campus closes the loop.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76762"/>
                </a:solidFill>
                <a:latin typeface="Aptos"/>
              </a:rPr>
              <a:t>One platform connects student participation with institutional tracking and responsible recovery.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148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441448"/>
            <a:ext cx="347472" cy="347472"/>
          </a:xfrm>
          <a:prstGeom prst="ellipse">
            <a:avLst/>
          </a:prstGeom>
          <a:solidFill>
            <a:srgbClr val="1F7E58"/>
          </a:solidFill>
          <a:ln>
            <a:solidFill>
              <a:srgbClr val="1F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89888" y="244144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7E58"/>
                </a:solidFill>
                <a:latin typeface="Aptos"/>
              </a:rPr>
              <a:t>STUDENTS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98648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623"/>
                </a:solidFill>
                <a:latin typeface="Aptos"/>
              </a:rPr>
              <a:t>Deposit electronics
Earn Credits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240280"/>
            <a:ext cx="2148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03320" y="2441448"/>
            <a:ext cx="347472" cy="347472"/>
          </a:xfrm>
          <a:prstGeom prst="ellipse">
            <a:avLst/>
          </a:prstGeom>
          <a:solidFill>
            <a:srgbClr val="356991"/>
          </a:solidFill>
          <a:ln>
            <a:solidFill>
              <a:srgbClr val="3569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8" y="244144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356991"/>
                </a:solidFill>
                <a:latin typeface="Aptos"/>
              </a:rPr>
              <a:t>CAMPUS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898648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623"/>
                </a:solidFill>
                <a:latin typeface="Aptos"/>
              </a:rPr>
              <a:t>Collection points
Impact dashboard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2240280"/>
            <a:ext cx="2148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441448"/>
            <a:ext cx="347472" cy="347472"/>
          </a:xfrm>
          <a:prstGeom prst="ellipse">
            <a:avLst/>
          </a:prstGeom>
          <a:solidFill>
            <a:srgbClr val="1F7E58"/>
          </a:solidFill>
          <a:ln>
            <a:solidFill>
              <a:srgbClr val="1F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67728" y="244144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7E58"/>
                </a:solidFill>
                <a:latin typeface="Aptos"/>
              </a:rPr>
              <a:t>RECIRCUIT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98648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623"/>
                </a:solidFill>
                <a:latin typeface="Aptos"/>
              </a:rPr>
              <a:t>Verify • Track
Reward • Route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240280"/>
            <a:ext cx="21488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281159" y="2441448"/>
            <a:ext cx="347472" cy="347472"/>
          </a:xfrm>
          <a:prstGeom prst="ellipse">
            <a:avLst/>
          </a:prstGeom>
          <a:solidFill>
            <a:srgbClr val="E58936"/>
          </a:solidFill>
          <a:ln>
            <a:solidFill>
              <a:srgbClr val="E589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56648" y="2441448"/>
            <a:ext cx="1234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58936"/>
                </a:solidFill>
                <a:latin typeface="Aptos"/>
              </a:rPr>
              <a:t>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898648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623"/>
                </a:solidFill>
                <a:latin typeface="Aptos"/>
              </a:rPr>
              <a:t>Reuse • Refurbish
Certified recycle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2697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76762"/>
                </a:solidFill>
                <a:latin typeface="Apto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2697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76762"/>
                </a:solidFill>
                <a:latin typeface="Aptos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697480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76762"/>
                </a:solidFill>
                <a:latin typeface="Apto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60520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7E58"/>
                </a:solidFill>
                <a:latin typeface="Aptos"/>
              </a:rPr>
              <a:t>WHAT MAKES IT DIFFERENT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7E58"/>
                </a:solidFill>
                <a:latin typeface="Aptos"/>
              </a:rPr>
              <a:t>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455371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2623"/>
                </a:solidFill>
                <a:latin typeface="Aptos"/>
              </a:rPr>
              <a:t>Digital incentives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89204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76762"/>
                </a:solidFill>
                <a:latin typeface="Aptos"/>
              </a:rPr>
              <a:t>ReCircuit Credits make responsible disposal tangible.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59" y="45720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7E58"/>
                </a:solidFill>
                <a:latin typeface="Apto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79" y="455371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2623"/>
                </a:solidFill>
                <a:latin typeface="Aptos"/>
              </a:rPr>
              <a:t>Traceable recovery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83479" y="489204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76762"/>
                </a:solidFill>
                <a:latin typeface="Aptos"/>
              </a:rPr>
              <a:t>Each item is routed to the right recovery pathway.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5720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7E58"/>
                </a:solidFill>
                <a:latin typeface="Aptos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4553712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82623"/>
                </a:solidFill>
                <a:latin typeface="Aptos"/>
              </a:rPr>
              <a:t>Institutional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4892040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76762"/>
                </a:solidFill>
                <a:latin typeface="Aptos"/>
              </a:rPr>
              <a:t>Colleges see participation, volumes and impact.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473952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76762"/>
                </a:solidFill>
                <a:latin typeface="Aptos"/>
              </a:rPr>
              <a:t>RECIRCUIT CAMPUS  •  3/5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6473952"/>
            <a:ext cx="3703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76762"/>
                </a:solidFill>
                <a:latin typeface="Aptos"/>
              </a:rPr>
              <a:t>Collect. Reward. Recover. Recycle.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7E58"/>
                </a:solidFill>
                <a:latin typeface="Aptos"/>
              </a:rPr>
              <a:t>03 •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8813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82623"/>
                </a:solidFill>
                <a:latin typeface="Aptos"/>
              </a:rPr>
              <a:t>Create value for every stakeholder.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44168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76762"/>
                </a:solidFill>
                <a:latin typeface="Aptos"/>
              </a:rPr>
              <a:t>The platform aligns incentives across the campus circular-economy ecosystem.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84831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1F7E58"/>
                </a:solidFill>
                <a:latin typeface="Aptos"/>
              </a:rPr>
              <a:t>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487168"/>
            <a:ext cx="2057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623"/>
                </a:solidFill>
                <a:latin typeface="Aptos"/>
              </a:rPr>
              <a:t>Convenience
+ Credits
+ recognition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74519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2084831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356991"/>
                </a:solidFill>
                <a:latin typeface="Aptos"/>
              </a:rPr>
              <a:t>COLLEGES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487168"/>
            <a:ext cx="2057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623"/>
                </a:solidFill>
                <a:latin typeface="Aptos"/>
              </a:rPr>
              <a:t>Managed collection
+ ESG data
+ impact reporting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874519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2084831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E58936"/>
                </a:solidFill>
                <a:latin typeface="Aptos"/>
              </a:rPr>
              <a:t>RECOVERY 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487168"/>
            <a:ext cx="2057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623"/>
                </a:solidFill>
                <a:latin typeface="Aptos"/>
              </a:rPr>
              <a:t>Organized supply
+ traceability
+ material recovery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874519"/>
            <a:ext cx="2487168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2084831"/>
            <a:ext cx="2103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BE4E44"/>
                </a:solidFill>
                <a:latin typeface="Aptos"/>
              </a:rPr>
              <a:t>CAMPUS BUSINESSES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2487168"/>
            <a:ext cx="2057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182623"/>
                </a:solidFill>
                <a:latin typeface="Aptos"/>
              </a:rPr>
              <a:t>Reward sponsorship
+ student traffic
+ visibility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1828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7E58"/>
                </a:solidFill>
                <a:latin typeface="Aptos"/>
              </a:rPr>
              <a:t>BUSINESS MODEL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370832"/>
            <a:ext cx="5074920" cy="640080"/>
          </a:xfrm>
          <a:prstGeom prst="roundRect">
            <a:avLst/>
          </a:prstGeom>
          <a:solidFill>
            <a:srgbClr val="E0F2E9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4805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82623"/>
                </a:solidFill>
                <a:latin typeface="Aptos"/>
              </a:rPr>
              <a:t>Institutional subscription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480560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76762"/>
                </a:solidFill>
                <a:latin typeface="Aptos"/>
              </a:rPr>
              <a:t>Annual platform fee from colleges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370832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448056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82623"/>
                </a:solidFill>
                <a:latin typeface="Aptos"/>
              </a:rPr>
              <a:t>Recovery partnerships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480560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76762"/>
                </a:solidFill>
                <a:latin typeface="Aptos"/>
              </a:rPr>
              <a:t>Revenue share / service fees with authorized partners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21208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3218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82623"/>
                </a:solidFill>
                <a:latin typeface="Aptos"/>
              </a:rPr>
              <a:t>Sponsored rewards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5321808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76762"/>
                </a:solidFill>
                <a:latin typeface="Aptos"/>
              </a:rPr>
              <a:t>Brands or campus businesses fund student incentives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5212080"/>
            <a:ext cx="5074920" cy="640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1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1072" y="5321808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182623"/>
                </a:solidFill>
                <a:latin typeface="Aptos"/>
              </a:rPr>
              <a:t>Impact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5321808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576762"/>
                </a:solidFill>
                <a:latin typeface="Aptos"/>
              </a:rPr>
              <a:t>Optional sustainability reporting &amp; insights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73952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76762"/>
                </a:solidFill>
                <a:latin typeface="Aptos"/>
              </a:rPr>
              <a:t>RECIRCUIT CAMPUS  •  4/5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6473952"/>
            <a:ext cx="37033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576762"/>
                </a:solidFill>
                <a:latin typeface="Aptos"/>
              </a:rPr>
              <a:t>Collect. Reward. Recover. Recycle.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1A170"/>
                </a:solidFill>
                <a:latin typeface="Aptos"/>
              </a:rPr>
              <a:t>04 • The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41248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From one campus to a circular campus network.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C4D6CF"/>
                </a:solidFill>
                <a:latin typeface="Aptos"/>
              </a:rPr>
              <a:t>ReCircuit Campus transforms e-waste collection from a one-time drive into a continuous, measurable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23160"/>
            <a:ext cx="5074920" cy="2148840"/>
          </a:xfrm>
          <a:prstGeom prst="roundRect">
            <a:avLst/>
          </a:prstGeom>
          <a:solidFill>
            <a:srgbClr val="233430"/>
          </a:solidFill>
          <a:ln w="12700">
            <a:solidFill>
              <a:srgbClr val="394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69748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B5C6BF"/>
                </a:solidFill>
                <a:latin typeface="Aptos"/>
              </a:rPr>
              <a:t>TRADITIONAL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154680"/>
            <a:ext cx="4206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tos"/>
              </a:rPr>
              <a:t>Collect  →  Recycle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79476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EC1B9"/>
                </a:solidFill>
                <a:latin typeface="Aptos"/>
              </a:rPr>
              <a:t>One-off drives • Limited tracking • Low incentive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423160"/>
            <a:ext cx="5623560" cy="2148840"/>
          </a:xfrm>
          <a:prstGeom prst="roundRect">
            <a:avLst/>
          </a:prstGeom>
          <a:solidFill>
            <a:srgbClr val="1F7E58"/>
          </a:solidFill>
          <a:ln w="12700">
            <a:solidFill>
              <a:srgbClr val="1F7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2697480"/>
            <a:ext cx="2468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0F2E9"/>
                </a:solidFill>
                <a:latin typeface="Aptos"/>
              </a:rPr>
              <a:t>RECIRCUIT CAMPUS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15468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Collect → Reward → Recover → Measure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794760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ptos"/>
              </a:rPr>
              <a:t>Continuous engagement • Traceability • Institutional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074920"/>
            <a:ext cx="795527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E0F2E9"/>
                </a:solidFill>
                <a:latin typeface="Aptos"/>
              </a:rPr>
              <a:t>“Every campus can become a circular campus.”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8338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RECIRCUIT CAMPUS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833872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41A170"/>
                </a:solidFill>
                <a:latin typeface="Aptos"/>
              </a:rPr>
              <a:t>Collect. Reward. Recover. Recycle.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45BCADE012848BADD84F0F5519C36" ma:contentTypeVersion="13" ma:contentTypeDescription="Create a new document." ma:contentTypeScope="" ma:versionID="749d6923f222eb45ac0dc6063575a178">
  <xsd:schema xmlns:xsd="http://www.w3.org/2001/XMLSchema" xmlns:xs="http://www.w3.org/2001/XMLSchema" xmlns:p="http://schemas.microsoft.com/office/2006/metadata/properties" xmlns:ns2="c49d017b-ac22-4c0b-a7a4-c8b9eca6cd70" xmlns:ns3="e0d206d7-ee7c-42da-b133-6e7342787b39" targetNamespace="http://schemas.microsoft.com/office/2006/metadata/properties" ma:root="true" ma:fieldsID="e99e7a50f06ef0e0bf1d9a36c1212498" ns2:_="" ns3:_="">
    <xsd:import namespace="c49d017b-ac22-4c0b-a7a4-c8b9eca6cd70"/>
    <xsd:import namespace="e0d206d7-ee7c-42da-b133-6e7342787b3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d017b-ac22-4c0b-a7a4-c8b9eca6cd7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d206d7-ee7c-42da-b133-6e7342787b3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5d6c0a8-0dd6-40f9-b8c8-aca075772b73}" ma:internalName="TaxCatchAll" ma:showField="CatchAllData" ma:web="e0d206d7-ee7c-42da-b133-6e7342787b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d017b-ac22-4c0b-a7a4-c8b9eca6cd70">
      <Terms xmlns="http://schemas.microsoft.com/office/infopath/2007/PartnerControls"/>
    </lcf76f155ced4ddcb4097134ff3c332f>
    <TaxCatchAll xmlns="e0d206d7-ee7c-42da-b133-6e7342787b39" xsi:nil="true"/>
    <ReferenceId xmlns="c49d017b-ac22-4c0b-a7a4-c8b9eca6cd70" xsi:nil="true"/>
  </documentManagement>
</p:properties>
</file>

<file path=customXml/itemProps1.xml><?xml version="1.0" encoding="utf-8"?>
<ds:datastoreItem xmlns:ds="http://schemas.openxmlformats.org/officeDocument/2006/customXml" ds:itemID="{4A7A4814-4981-4FAA-9561-798149BD3081}"/>
</file>

<file path=customXml/itemProps2.xml><?xml version="1.0" encoding="utf-8"?>
<ds:datastoreItem xmlns:ds="http://schemas.openxmlformats.org/officeDocument/2006/customXml" ds:itemID="{AF4ED4B8-BEB8-4ED5-9879-05EBE1F67E17}"/>
</file>

<file path=customXml/itemProps3.xml><?xml version="1.0" encoding="utf-8"?>
<ds:datastoreItem xmlns:ds="http://schemas.openxmlformats.org/officeDocument/2006/customXml" ds:itemID="{6E715E20-7568-4EAB-BE84-2BDC5F467BD9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0x01010029E45BCADE012848BADD84F0F5519C36</vt:lpwstr>
  </property>
</Properties>
</file>